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0049924da04ac7" /><Relationship Type="http://schemas.openxmlformats.org/officeDocument/2006/relationships/extended-properties" Target="/docProps/app.xml" Id="R48677fc90f204716" /><Relationship Type="http://schemas.openxmlformats.org/officeDocument/2006/relationships/officeDocument" Target="/ppt/presentation.xml" Id="Ra4404073633e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fdf75a9994d77"/>
  </p:sldMasterIdLst>
  <p:notesMasterIdLst>
    <p:notesMasterId xmlns:r="http://schemas.openxmlformats.org/officeDocument/2006/relationships" r:id="R3200eb039f914fd5"/>
  </p:notesMasterIdLst>
  <p:sldIdLst>
    <p:sldId xmlns:r="http://schemas.openxmlformats.org/officeDocument/2006/relationships" id="256" r:id="Rd8b626df2ef3459b"/>
    <p:sldId xmlns:r="http://schemas.openxmlformats.org/officeDocument/2006/relationships" id="257" r:id="R8839546a6f6246f1"/>
    <p:sldId xmlns:r="http://schemas.openxmlformats.org/officeDocument/2006/relationships" id="258" r:id="R9f94a88545724875"/>
    <p:sldId xmlns:r="http://schemas.openxmlformats.org/officeDocument/2006/relationships" id="259" r:id="R4e99e78691a0460f"/>
    <p:sldId xmlns:r="http://schemas.openxmlformats.org/officeDocument/2006/relationships" id="260" r:id="R0d2b37f458a34a4d"/>
    <p:sldId xmlns:r="http://schemas.openxmlformats.org/officeDocument/2006/relationships" id="261" r:id="R42c183482a354ad8"/>
    <p:sldId xmlns:r="http://schemas.openxmlformats.org/officeDocument/2006/relationships" id="262" r:id="R93dcce09d14344d7"/>
    <p:sldId xmlns:r="http://schemas.openxmlformats.org/officeDocument/2006/relationships" id="263" r:id="R5dba5bdf1f254657"/>
    <p:sldId xmlns:r="http://schemas.openxmlformats.org/officeDocument/2006/relationships" id="264" r:id="Rb100d51fedf644e9"/>
    <p:sldId xmlns:r="http://schemas.openxmlformats.org/officeDocument/2006/relationships" id="265" r:id="Rab594c4163984e46"/>
    <p:sldId xmlns:r="http://schemas.openxmlformats.org/officeDocument/2006/relationships" id="266" r:id="Re738c9b488d440fe"/>
    <p:sldId xmlns:r="http://schemas.openxmlformats.org/officeDocument/2006/relationships" id="267" r:id="R28f5af95fcd14d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2daf4ae3148ab" /><Relationship Type="http://schemas.openxmlformats.org/officeDocument/2006/relationships/slideMaster" Target="/ppt/slideMasters/slideMaster1.xml" Id="Rcc6fdf75a9994d77" /><Relationship Type="http://schemas.openxmlformats.org/officeDocument/2006/relationships/notesMaster" Target="/ppt/notesMasters/notesMaster1.xml" Id="R3200eb039f914fd5" /><Relationship Type="http://schemas.openxmlformats.org/officeDocument/2006/relationships/presProps" Target="/ppt/presProps.xml" Id="R22b2ab79ebce4276" /><Relationship Type="http://schemas.openxmlformats.org/officeDocument/2006/relationships/tableStyles" Target="/ppt/tableStyles.xml" Id="R476a2fb77eb04d53" /><Relationship Type="http://schemas.openxmlformats.org/officeDocument/2006/relationships/slide" Target="/ppt/slides/slide1.xml" Id="Rd8b626df2ef3459b" /><Relationship Type="http://schemas.openxmlformats.org/officeDocument/2006/relationships/slide" Target="/ppt/slides/slide2.xml" Id="R8839546a6f6246f1" /><Relationship Type="http://schemas.openxmlformats.org/officeDocument/2006/relationships/slide" Target="/ppt/slides/slide3.xml" Id="R9f94a88545724875" /><Relationship Type="http://schemas.openxmlformats.org/officeDocument/2006/relationships/slide" Target="/ppt/slides/slide4.xml" Id="R4e99e78691a0460f" /><Relationship Type="http://schemas.openxmlformats.org/officeDocument/2006/relationships/slide" Target="/ppt/slides/slide5.xml" Id="R0d2b37f458a34a4d" /><Relationship Type="http://schemas.openxmlformats.org/officeDocument/2006/relationships/slide" Target="/ppt/slides/slide6.xml" Id="R42c183482a354ad8" /><Relationship Type="http://schemas.openxmlformats.org/officeDocument/2006/relationships/slide" Target="/ppt/slides/slide7.xml" Id="R93dcce09d14344d7" /><Relationship Type="http://schemas.openxmlformats.org/officeDocument/2006/relationships/slide" Target="/ppt/slides/slide8.xml" Id="R5dba5bdf1f254657" /><Relationship Type="http://schemas.openxmlformats.org/officeDocument/2006/relationships/slide" Target="/ppt/slides/slide9.xml" Id="Rb100d51fedf644e9" /><Relationship Type="http://schemas.openxmlformats.org/officeDocument/2006/relationships/slide" Target="/ppt/slides/slide10.xml" Id="Rab594c4163984e46" /><Relationship Type="http://schemas.openxmlformats.org/officeDocument/2006/relationships/slide" Target="/ppt/slides/slide11.xml" Id="Re738c9b488d440fe" /><Relationship Type="http://schemas.openxmlformats.org/officeDocument/2006/relationships/slide" Target="/ppt/slides/slide12.xml" Id="R28f5af95fcd14d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d1c308795c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8d6b2bd454c8c" /><Relationship Type="http://schemas.openxmlformats.org/officeDocument/2006/relationships/notesMaster" Target="/ppt/notesMasters/notesMaster1.xml" Id="Rdfcf2f5c081949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5c154dd7e34f43" /><Relationship Type="http://schemas.openxmlformats.org/officeDocument/2006/relationships/notesMaster" Target="/ppt/notesMasters/notesMaster1.xml" Id="Rf09a8a55e830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49daa50c046fd" /><Relationship Type="http://schemas.openxmlformats.org/officeDocument/2006/relationships/notesMaster" Target="/ppt/notesMasters/notesMaster1.xml" Id="R8b308253a643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3018d6296f491a" /><Relationship Type="http://schemas.openxmlformats.org/officeDocument/2006/relationships/notesMaster" Target="/ppt/notesMasters/notesMaster1.xml" Id="Rebb0eb1ecc71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f1c11b61e54487" /><Relationship Type="http://schemas.openxmlformats.org/officeDocument/2006/relationships/notesMaster" Target="/ppt/notesMasters/notesMaster1.xml" Id="R3d23359ebc22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1e8283c3b941a1" /><Relationship Type="http://schemas.openxmlformats.org/officeDocument/2006/relationships/notesMaster" Target="/ppt/notesMasters/notesMaster1.xml" Id="Ra47566fdd32b41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b256d33b21491a" /><Relationship Type="http://schemas.openxmlformats.org/officeDocument/2006/relationships/notesMaster" Target="/ppt/notesMasters/notesMaster1.xml" Id="R923afb8815114b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2f0c147e54bff" /><Relationship Type="http://schemas.openxmlformats.org/officeDocument/2006/relationships/notesMaster" Target="/ppt/notesMasters/notesMaster1.xml" Id="Rcdebb97b9b6d41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67ef91602b4272" /><Relationship Type="http://schemas.openxmlformats.org/officeDocument/2006/relationships/notesMaster" Target="/ppt/notesMasters/notesMaster1.xml" Id="R23299dfffb644b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8a33c4dc8f4353" /><Relationship Type="http://schemas.openxmlformats.org/officeDocument/2006/relationships/notesMaster" Target="/ppt/notesMasters/notesMaster1.xml" Id="Rfe21b2b7f1b149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653da5d2dd4b25" /><Relationship Type="http://schemas.openxmlformats.org/officeDocument/2006/relationships/notesMaster" Target="/ppt/notesMasters/notesMaster1.xml" Id="R031ace474e5d4d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59fca8081c4c07" /><Relationship Type="http://schemas.openxmlformats.org/officeDocument/2006/relationships/notesMaster" Target="/ppt/notesMasters/notesMaster1.xml" Id="R35b46b8c0a194e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대상: AI창업가양성과정 수업 운영진·발표 평가자. 제품 정의: F-002, F-004, F-010. 표지 이미지는 본 덱을 위해 생성한 편집 일러스트이며 실제 거래 기록 사진이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F-007~F-009. 출처: 국가데이터처, 2025년 12월 온라인쇼핑동향 및 4/4분기 온라인 해외 직접 판매 및 구매 동향, 게시 2026-02-02. https://mods.go.kr/board.es?act=view&amp;bid=241&amp;list_no=443337&amp;mid=a10301120300 확인 2026-09-12.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F-001, F-006, F-010. 문제 구조는 창업자 업무 경험에 기반한다. 외부 사용자 인터뷰는 현재 0건이므로 고객 전체의 일반적 문제로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F-004. 제품 범위와 상태는 /home/extremek/Personal/Product-Research-Platform/docs/product/prd.md의 기능 요구사항과 사용자 여정에서 파생.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F-006, F-010. 시장 정의와 산식은 docs/product/market-stage-1.md에서 파생. TAM·SAM·SOM 금액은 L2 인터뷰와 L3 교차검증 전까지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F-011, F-012. 기술 구성은 docs/product/prd.md와 docs/product/TECH_STACK.md에서 파생. AI는 외부 메시지·발주·송금·신고를 실행하지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F-013. BM은 가설이다. 단가·전환율·CAC·매출총이익률은 외부 인터뷰와 가격 실험 전까지 미확정. docs/product/bm-stage-1-market-to-bm.md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F-001, F-003, F-006, F-016. 외부 유료계약·파일럿·LOI·반복사용 증거는 현재 0건. 따라서 본 장표를 트랙션으로 부르지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F-012, F-014. 경쟁 범주는 공개 서비스 조사와 docs/product/prd.md의 시장·경쟁 요약에서 파생. 현재 데이터 전후 성능, 반복사용, 계약상 재사용 권리 증거가 없으므로 해자를 보유했다고 주장하지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F-001. 창업자 경력의 기간·건수·금액·성과는 미확인. 현재 장표는 사용자 제공 업무 범위만 사용하며 학력·근무처·연차를 추정하지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F-003, F-005, F-014. 개발 일정과 전환 Gate는 docs/product/prd.md 및 docs/product/program-stage-1.md에서 파생. 4주 일정은 기존 코드 재사용 가정이며 실적이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F-015, F-016. 본 덱은 수업·내부검토용이며 투자·정부지원 발송본이 아님. 투자금·밸류·희석·지원금 Ask는 사업자 상태, 런웨이, 예산비목, 외부 증거 확인 전까지 미확정.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bc9096f4d4b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4bd2e0d2447b8" /><Relationship Type="http://schemas.openxmlformats.org/officeDocument/2006/relationships/slideLayout" Target="/ppt/slideLayouts/slideLayout1.xml" Id="Re7f323d2c75b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323d2c75b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322b9a1d4516" /><Relationship Type="http://schemas.openxmlformats.org/officeDocument/2006/relationships/image" Target="/ppt/media/image.png" Id="Rb7836d41647248e8" /><Relationship Type="http://schemas.openxmlformats.org/officeDocument/2006/relationships/notesSlide" Target="/ppt/notesSlides/notesSlide1.xml" Id="Rc7f8f4365fd6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952f4675b4dd8" /><Relationship Type="http://schemas.openxmlformats.org/officeDocument/2006/relationships/notesSlide" Target="/ppt/notesSlides/notesSlide2.xml" Id="Rfa01a86ed3684d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1a7c553644ed5" /><Relationship Type="http://schemas.openxmlformats.org/officeDocument/2006/relationships/notesSlide" Target="/ppt/notesSlides/notesSlide3.xml" Id="Rd533c1579001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66e71ec634b78" /><Relationship Type="http://schemas.openxmlformats.org/officeDocument/2006/relationships/notesSlide" Target="/ppt/notesSlides/notesSlide4.xml" Id="R81b9347bcc0e41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3c392c19f4ffd" /><Relationship Type="http://schemas.openxmlformats.org/officeDocument/2006/relationships/notesSlide" Target="/ppt/notesSlides/notesSlide5.xml" Id="R6458c23a7340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65a3509364c4d" /><Relationship Type="http://schemas.openxmlformats.org/officeDocument/2006/relationships/notesSlide" Target="/ppt/notesSlides/notesSlide6.xml" Id="Rf9f133e6db374d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b60ea6174e99" /><Relationship Type="http://schemas.openxmlformats.org/officeDocument/2006/relationships/notesSlide" Target="/ppt/notesSlides/notesSlide7.xml" Id="R11903dafa43b40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8bd8a83da4f1b" /><Relationship Type="http://schemas.openxmlformats.org/officeDocument/2006/relationships/notesSlide" Target="/ppt/notesSlides/notesSlide8.xml" Id="R17870aea9e4342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5931c543c4685" /><Relationship Type="http://schemas.openxmlformats.org/officeDocument/2006/relationships/notesSlide" Target="/ppt/notesSlides/notesSlide9.xml" Id="R0ebe5c3742014b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7f18467704804" /><Relationship Type="http://schemas.openxmlformats.org/officeDocument/2006/relationships/notesSlide" Target="/ppt/notesSlides/notesSlide10.xml" Id="R4928440e4fa44c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82aa164de46cd" /><Relationship Type="http://schemas.openxmlformats.org/officeDocument/2006/relationships/notesSlide" Target="/ppt/notesSlides/notesSlide11.xml" Id="R590a35d1e62048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ff4dbc72c45f2" /><Relationship Type="http://schemas.openxmlformats.org/officeDocument/2006/relationships/notesSlide" Target="/ppt/notesSlides/notesSlide12.xml" Id="R86342fc2783445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36d41647248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A01D7-7C3F-442F-BCFE-95697FB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C18E8-2BC0-40ED-BC75-D630D923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5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Import OS V0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146E1-0476-44CF-9385-77D7DB2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0">
                <a:solidFill>
                  <a:srgbClr val="E8EC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E8ECEF"/>
                </a:solidFill>
                <a:latin typeface="Noto Sans CJK KR"/>
                <a:ea typeface="Noto Sans CJK KR"/>
                <a:cs typeface="Noto Sans CJK KR"/>
              </a:rPr>
              <a:t>일본 소량수입 셀러의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550" b="0">
                <a:solidFill>
                  <a:srgbClr val="E8ECE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E8ECEF"/>
                </a:solidFill>
                <a:latin typeface="Noto Sans CJK KR"/>
                <a:ea typeface="Noto Sans CJK KR"/>
                <a:cs typeface="Noto Sans CJK KR"/>
              </a:rPr>
              <a:t>예상원가와 실제원가를 연결하는 운영 도구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74D71-0126-44A0-8AE9-AB84C28A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5A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29111-078D-43DB-9766-EC1A85C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CAD3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CAD3D8"/>
                </a:solidFill>
                <a:latin typeface="Noto Sans CJK KR"/>
                <a:ea typeface="Noto Sans CJK KR"/>
                <a:cs typeface="Noto Sans CJK KR"/>
              </a:rPr>
              <a:t>수업·검토용 초안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A2491-08FC-48A1-A934-C097EA2A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9FB0B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9FB0BA"/>
                </a:solidFill>
                <a:latin typeface="Noto Sans CJK KR"/>
                <a:ea typeface="Noto Sans CJK KR"/>
                <a:cs typeface="Noto Sans CJK KR"/>
              </a:rPr>
              <a:t>2026.09.12</a:t>
            </a:r>
          </a:p>
        </p:txBody>
      </p:sp>
    </p:spTree>
    <p:extLst>
      <p:ext uri="{BB962C8B-B14F-4D97-AF65-F5344CB8AC3E}">
        <p14:creationId xmlns:p14="http://schemas.microsoft.com/office/powerpoint/2010/main" val="1095663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7DD40-B419-44F5-806C-FA1A9697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DAD6E-EC6B-4F46-B127-CB48496A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일본 소량수입의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8C9B4-CC79-4204-807A-9D15BB1E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5C431-D11A-459F-96D0-679A4A84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공식 통계는 거래의 존재를 보여준다. 고객 수와 지불예산은 아직 측정해야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1C34D-7651-4DC0-9559-E531F3D3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3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3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2조 2,543억 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6473B-98EE-4A38-B88C-9CF97FD8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2025년 4분기 온라인 해외 직접 구매액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DE818-EF41-44F8-BAAE-55DDB58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1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+1.6%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34996-F58D-46C3-8D35-10928A9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전년 동기 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E7334-1F04-466C-A442-B043BD53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079E8-1CFA-4E63-8BD3-BB2DBAC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rPr>
              <a:t>1,620억 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E3E25-6B1F-4B23-91B8-C47A9BEF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일본 온라인 직접 구매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37E64-EAEF-4899-8FA3-A35715B7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385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DE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28A41-703D-4712-A9D8-65A9617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rPr>
              <a:t>2,001억 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5AB15-1CCE-4673-ABBB-883C305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생활·자동차용품 해외 직접 구매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78AA-606C-472A-96DA-0AF7E0D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1155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0C7B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40E40-2225-442A-94B8-E1DA501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해석 범위  거래 규모는 초기 회랑의 배경이며, Import OS의 TAM이나 매출 근거가 아니다.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5DDCD-D91A-48BC-BE84-30DA4DB7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0566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16C38-C991-48BB-8A4E-D25E75C1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31633-91D4-4AC7-B986-B7BFE25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원가 판단이 다음 발주로 이어지지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FC596-59C0-4BD4-B68C-A737128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D180A-7533-4856-85BB-1B0D7A8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같은 상품의 가정과 실제 결과가 서로 다른 파일과 서비스에 남는다.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F0A14-7F5D-4094-A2EC-679902D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190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63E82-944D-4047-99AB-98F0E40D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공급처 견적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0505E-3F1F-4D00-A617-CAFA3DD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020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DE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65ACC-3F9E-422A-8456-65F34526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716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환율·송금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4A668-67A4-4FEE-89A9-55DEBCC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190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DED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3DF83-6DED-435F-B7A4-F2681BA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운임·통관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7B662-718A-4872-B383-3CF18519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433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D47A7-0B23-483A-8B52-09632093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CI · PI · PL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A83C7-8D2D-4193-8E1C-A89631C9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DED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04D24-34DE-4381-89A6-9F2A5ECD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판매수수료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B9669-F10E-4192-B128-E9FCA7CF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35F8D-6664-41F4-8D43-59E2E9A8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재고·반품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55595-C207-4A9D-AE23-D2924185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66950"/>
            <a:ext cx="2724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18FBB-3E68-4A86-AC8B-156F8A8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8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예상과 실제의 차이를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설명할 원장이 없다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A906E-0EB9-4AFF-ABAD-781EBA41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0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C9D4D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C9D4DA"/>
                </a:solidFill>
                <a:latin typeface="Noto Sans CJK KR"/>
                <a:ea typeface="Noto Sans CJK KR"/>
                <a:cs typeface="Noto Sans CJK KR"/>
              </a:rPr>
              <a:t>탈락 이유와 재발주 근거도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C9D4D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C9D4DA"/>
                </a:solidFill>
                <a:latin typeface="Noto Sans CJK KR"/>
                <a:ea typeface="Noto Sans CJK KR"/>
                <a:cs typeface="Noto Sans CJK KR"/>
              </a:rPr>
              <a:t>다음 검토에 재사용되지 않는다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81768-31B3-4C88-90F0-3D01847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2609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3B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B9F18-68F6-4FBE-A438-0646BA0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1714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3B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23FC0-816D-4722-967A-8228E76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26098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3B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CE386-62EB-4DC4-AEA5-8DDE47A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52875"/>
            <a:ext cx="1714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3B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DD375-3E5D-40F2-B66E-3E6E043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6858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3B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AE667-C762-4722-B19B-99668814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6200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3B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BFD63-5324-4AE0-97CB-31E555E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현재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ADCE2-94AB-431F-BB3F-62E5C3F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721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창업자 수입 운영 경험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E5B94-5DE2-4B7F-8881-E73A3F6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7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외부 인터뷰 0건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C951A-EE25-4653-A93E-7C31A72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6994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8FCB3-5BCC-4617-98E2-4490DA11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9FCF0-9B36-462A-BEAB-F8D5259E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하나의 SKU 원장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4D194-7A38-4BF0-90D9-D8CA3265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77E30-1532-4C51-B763-E63DCAEB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발주 전 가정과 발주 후 결과를 같은 비용 항목으로 연결한다.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3F49E-D092-41CA-9757-C6085C81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C7FD-D243-44F0-BCD0-B96FA8B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상품 후보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B3B91-C8E5-4AF2-8117-EED09369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69A13-552D-4A98-8D26-663DB9E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견적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CE96B-B6A6-402A-B98C-8A48DF54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1026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8CFC0-4E3C-4131-843A-790F650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예상원가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50625-31BD-44D1-B0F4-1639183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FE031-D16C-48BF-A2D7-1F579417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수입 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A095E-2057-49C3-97E4-61AEFC0F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1026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2A7ED-2E38-4D1F-947C-ECCD5F6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실제원가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67A4C-35D7-4914-B68B-BB277DC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32F73-1073-47E8-B1BD-C3E3901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판매·재고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B85B9-B250-4666-8F13-C078A548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86000"/>
            <a:ext cx="1428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1026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0D181-70CD-4B3E-8898-D3EC30B7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81275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재발주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28194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62350" y="28194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28194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24650" y="28194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05800" y="28194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86950" y="28194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D79DD-C8E1-40A7-9F32-F594623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19575"/>
            <a:ext cx="805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405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FC594-F7C9-436B-87BF-2256AF56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425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rPr>
              <a:t>동일 SKU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8F20E-83DC-47CE-8A2B-0BD64DB3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671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E4058"/>
                </a:solidFill>
                <a:latin typeface="Noto Sans CJK KR"/>
                <a:ea typeface="Noto Sans CJK KR"/>
                <a:cs typeface="Noto Sans CJK KR"/>
              </a:rPr>
              <a:t>동일 비용 항목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6BE63-7898-47AB-A79C-F359EE11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핵심 출력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CCAA2-6419-461B-BA15-2EFEF53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815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예상원가와 실제원가의 차이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18EB9-E451-419D-8A90-7C71B8C2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815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실현마진과 재발주 판단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5B8AA-9BC1-4E93-98F8-D116B0E2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3452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85F24-4A9E-4BE4-A32F-686523F0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75697-55DB-4C90-94FA-A6A8F7C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측정해야 할 시장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51986-308A-4F44-B08F-3F3A4F7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BA1BF-6D03-42D7-AD23-4A0FF071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업종 시장보다 고객이 이미 쓰는 소프트웨어·수기 운영 예산을 측정한다.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70C99-9623-46B4-865F-61309DD5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AB46F-53C2-48B3-804F-91A799A6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시장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AF630-3804-4AE4-BF36-5FF6CFE8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일본 비전기 소비재를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5~30개씩 반복 수입하는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1~3인 온라인 판매사업자의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 예산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20D56-54B7-4F0C-9A5C-8689D2E8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90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상향식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98B30-0D77-4127-9A52-580EF48A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도달 고객 × 전환율 × 단가 × 빈도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59E98-8227-4C11-BA2D-CC79CDD4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입력 수집 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24B04-6300-4889-8398-DA6EC5B4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67000"/>
            <a:ext cx="557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E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3808E-5C31-4483-955F-820242D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14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하향식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3631D-8C22-4126-8AE5-8DB15B8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반복 수입 사업자 × 세그먼트 비중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DF2F1-C63D-4C19-814F-7C8F39BF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623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분모 확인 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31E47-E932-4E57-B753-B4576286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557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E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A8820-3064-4FD0-827A-15873F25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38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가치식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FB64-07B2-4886-912E-C8BA50F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절감액 × 가치 점유율 × 고객 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ED054-2C4F-48E5-B208-F4AA569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862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전후 측정 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EBEEC-F439-46A6-A979-50799A0A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57800"/>
            <a:ext cx="55626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C7B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9CE8F-6572-4794-B6CE-9FB2F307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006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L2 인터뷰 8~12명과 L3 세 산식 수렴 전에는 시장 금액을 쓰지 않는다.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39416-EECB-453A-82E5-DFFCA15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7713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8E167-41EA-4689-B609-01255939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D44D7-783A-4B5D-905C-8307AE3A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계산은 규칙, AI는 보조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76FEF-F6D7-4B48-8EC4-691C060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FC7EE-C224-4539-84FB-64F7BC97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AI가 꺼져도 원가 계산·문서·마감·재발주는 작동한다.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90635-44AC-4D5C-B4F3-8956DDA3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3811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6291C-5356-4CB5-9CF7-449C1552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1F10D-D613-4904-8D93-6DCB749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7907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4E352-D6CA-4F43-831C-E9F34F4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React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BB745-199D-41A2-AF71-DE588668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입력 · 검토 · 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A5D6F-F3A0-476C-8AA7-4E247186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25241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3A75F-78B5-46AD-B8FE-1D183E19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33600"/>
            <a:ext cx="1838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Spring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ACFAC-DB19-4128-9D27-558BE88F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D8E1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D8E1E6"/>
                </a:solidFill>
                <a:latin typeface="Noto Sans CJK KR"/>
                <a:ea typeface="Noto Sans CJK KR"/>
                <a:cs typeface="Noto Sans CJK KR"/>
              </a:rPr>
              <a:t>원가 규칙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D8E1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D8E1E6"/>
                </a:solidFill>
                <a:latin typeface="Noto Sans CJK KR"/>
                <a:ea typeface="Noto Sans CJK KR"/>
                <a:cs typeface="Noto Sans CJK KR"/>
              </a:rPr>
              <a:t>상태 전이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D8E1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D8E1E6"/>
                </a:solidFill>
                <a:latin typeface="Noto Sans CJK KR"/>
                <a:ea typeface="Noto Sans CJK KR"/>
                <a:cs typeface="Noto Sans CJK KR"/>
              </a:rPr>
              <a:t>권한 · 감사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6525-FF65-4671-A05B-763FB5A6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23837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2CA1C-E7DB-4658-B090-3EDBAD8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838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PostgreSQL · MinIO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C615A-B600-4881-BB3E-81373709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238375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C7B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1FAF9-DA49-4F64-A505-6BAAD42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52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AI 보조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482DD-B442-4283-B148-A608FC3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구조화 · 질문 · 설명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047875" y="2809875"/>
            <a:ext cx="8096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48200" y="28098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5A38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048625" y="2266950"/>
            <a:ext cx="104775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E4058"/>
            </a:solidFill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48625" y="2809875"/>
            <a:ext cx="104775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76756-5979-49CC-9618-A785409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3D026-7FA5-4DF3-986D-E9E5768A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사람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EF157-247B-49DA-97DE-256D9B2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3397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추출값 확정 · 비용배부 확정 · 통관 확인 · 모든 외부 전송과 거래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A67C7-CFE9-4431-A9B8-0BD00167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8165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73154-B3CB-4E5B-B6FB-AEC2B285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E8240-6480-495F-90B5-AED6C9D8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과금 가설과 가격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AC170-6E13-420C-8F71-F34BF12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56EEF-A7E2-43A4-8F60-2678098B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사용자와 지불자가 같은 1인 수입 셀러부터 검증한다.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21009-37C9-42D7-895A-2FA4129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5364B-E063-4283-B512-43C3D5B7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4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1~3인 수입 셀러 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B863D-5994-4304-AC9C-3981A9C4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26670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55E67-C834-4ACD-BE5E-4E46497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Import 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F0707-E935-4537-9355-E6EC517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D6E0E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D6E0E5"/>
                </a:solidFill>
                <a:latin typeface="Noto Sans CJK KR"/>
                <a:ea typeface="Noto Sans CJK KR"/>
                <a:cs typeface="Noto Sans CJK KR"/>
              </a:rPr>
              <a:t>예상원가 · 마감 · 재발주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CB4E4-0F50-4143-9B46-0C902199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77806-50BD-4B13-8F72-089E9090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157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환율 · 문서 · 판매 CSV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71800" y="2724150"/>
            <a:ext cx="1981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D85A38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20000" y="2724150"/>
            <a:ext cx="1714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78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CE16A-959E-4792-A3F1-2F12F94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월 기본료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+ 초과 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6F610-CCB2-42F8-A416-8867F4DE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76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가격 검증 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9449D-68E0-4609-B434-0B7DC7C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358D2-234B-4DD0-B567-9A1B6B0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검증할 4개 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B66C4-DD0D-4B95-A58D-A4D5ED0A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F8027-3406-4D93-BC18-9878187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월 지불의사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8536B-7AA0-4DB5-B0B7-DE860FD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720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68707-F357-4952-BA0B-E6EBB812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72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포함 건수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305A1-FDEC-4159-AE83-937647D0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D5035-2105-40FF-A7CC-B04F459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건당 API·검수비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7DC2A-79FB-4683-BA2E-1B0095EF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720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8E646-D27B-4412-B211-DF247110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720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직접 모집 CAC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107E9-107C-4590-B9EE-B811509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0701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4C151-13A8-4E5E-8020-DDB9C907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BB146-E16E-4B5C-B543-1F7B49C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검증 현황과 다음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5FB5B-FE9C-4D68-AE82-0FC4F87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485E5-73B4-47AC-B0BE-BDC5C611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외부 트랙션 0건이므로 계획과 완료 증거를 한 화면에서 구분한다.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1DBE-AEB2-4B19-B778-14EB632A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8097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44FBB-4FD2-44F4-B735-B91FE3D3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현재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C7600-0C52-4D2F-A6BD-AB28F700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도메인 경험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PRD·공식 조사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AEE04-5767-4B5F-AB58-611975BF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1809750" cy="1733550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005CF-433F-4943-B826-F4E05C15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33464-2906-45FD-A683-27F4019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실제 3-SKU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원가 마감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6B5D9-DAA9-41D6-BDC6-5E1FB3CE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62250"/>
            <a:ext cx="1809750" cy="23050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4DE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D8A0F-ADA0-4FC0-94D9-C38DA65D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33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48DAB-AEBC-41E6-953B-F475E36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외부 인터뷰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8~12명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12D0D-63EE-424B-BD77-FE230BDA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1809750" cy="2876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0C7B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7370C-C703-4257-BEB6-222ADBA7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FA0AB-B2A4-498B-B3C3-333DF52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48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외부 파일럿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3곳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802BF-769D-4497-B80D-DE2E59F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1809750" cy="34480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85A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FF9F0-C101-4DB0-8BB1-3D49D470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CC9D8-103F-4B16-A41C-77A477CE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48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유료 또는 LOI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1건 이상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85E87-9B89-4307-979F-BA6AB0E1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4A716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4A7161"/>
                </a:solidFill>
                <a:latin typeface="Noto Sans CJK KR"/>
                <a:ea typeface="Noto Sans CJK KR"/>
                <a:cs typeface="Noto Sans CJK KR"/>
              </a:rPr>
              <a:t>완료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93DB2-96BA-415A-BBF1-FA923D71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340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계획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F24B1-8BEE-4BBC-93CC-F0C7D59A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1417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FA206-0A3E-402A-B53A-63D4FAF8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6B1F-EA47-4CB4-B51F-1C69424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방어력의 생성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E80B-7B47-4CE6-8793-A54DD7CB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F7B4D-FAB4-4E4D-BA7D-38171598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기능과 모델 접근은 복제된다. 연결된 실제 결과와 재사용 권리가 남아야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49189-D8D8-4CD1-8F0C-27ECBEE2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상품 탐색 도구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19BE8-704E-4F52-8DB8-EB21F38B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4DE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A07BE-FA20-463D-A65C-1E183D3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1944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6670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30576-47CD-4962-AB98-7AB2296B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후보·키워드에서 멈춤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E4517-E6EB-4A78-ABCE-F4E2580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일본 도매·구매대행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C5318-8583-4EBF-B2BB-57F0B6E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4DE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8E2B9-F83B-4E17-BC25-93E6D1BA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2280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6670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D9EB1-4428-40B6-85D1-50887EB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주문·배송에서 멈춤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015F8-D3EA-4947-83C2-CA1491A8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ERP·Excel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67765-4E6B-4A8C-A4C6-217ED88B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4DE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AA2D6-AE55-46E4-8007-203A904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36918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E40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20657-CEC1-44E0-8E03-F54A0B6E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기록은 남지만 예상과 판매가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BC1F7-98F7-4408-8CA8-4EDE08F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7823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26DAE-1E2A-49F3-9E9E-B4C16CDA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현재 해자  없음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747E8-04D6-4EF8-87E3-2F06429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784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형성 조건  실제원가 + 공급처 이력 + 판매성과 + 재사용 권리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1D8D2-4B8F-4AEE-A400-727232D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89779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1E699-54B8-4BB4-8AD2-670003F9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8448E-7E25-4552-B582-D59002C6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창업자 적합성과 역할 공백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E9EBB-9F96-442A-BD0F-2C00FCA2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30AB3-27A0-486E-8E4C-F39CA0D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수입 운영 경험이 제품의 깊이를 만들지만 경력 수치와 외부 역량은 보완해야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F783-AB60-48F0-A06A-F38DF6E9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FOUNDER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7C580-39C7-4470-B6A9-F58D9AE7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수입 오퍼레이션의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앞뒤를 직접 연결한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09CC9-318A-40C7-AECA-328F12D7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B2A53-371E-4E66-81B3-9D99A46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T/T 송금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53543-CAEE-46D4-B68B-D7E713B0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3927C-AFED-4F81-A855-885B6F6E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회계처리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2D3F1-CAAD-436E-A4B7-40F73DFB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901EC-C60F-4235-A4DC-2D34275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통관·입고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D9AC0-C4CE-44FD-B6C6-44B793B0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59014-7A6E-4D5E-9A04-1011061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포워더·관세사 협업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243A4-10BF-40D5-9B3B-8316B48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7084D-B193-4013-9929-6A9F4620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4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납품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81110-C9B7-4CDB-BB71-B324D7DD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3355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7EBF1-691C-471B-87E2-92C14249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IR 전 보완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2AF8C-8B4F-40DD-A126-B208E5E1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경력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AC1E1-3BC3-48D9-9D9F-77A31C36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연수 · 월평균 수입 건수 · 취급금액 · 개선성과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F7B64-AA09-49B8-B691-8A0EC4E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E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94B57-EBA8-4F2B-AF26-4B2F0F5A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고객 획득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619A8-C0C9-4267-BD0D-2500B69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초기 셀러 모집 채널과 파일럿 운영 능력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BDB93-E8F8-42CC-AB65-8B5457F6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481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ED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CB42D-3B40-4DED-9181-B9BE3E3F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전문 자문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06685-2120-4CA5-B707-41D2E7C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상품별 인증 · 표시 · 통관 경계의 외부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8F2FB-6624-4D3A-9F3E-15C7FCA4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7639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5943E-D2AE-46A6-838D-A2818EF1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88EB6-220E-4C8F-9A1B-45489AD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V0부터 SaaS까지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39B95-6D53-49A1-890B-68F4B25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F934D-9F11-46D3-ADCA-C6B1BA9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23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증거가 생길 때만 다음 단계의 범위를 연다.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0FE6E-B9A0-4BEA-B4B4-94ECEC9E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324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1026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F348A-38B8-49F6-B371-64C0385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0~4주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6ACF1-5963-4A14-A206-69E01BC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V0 수직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BC6FA-39DC-4548-99AC-AEC5256B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7E1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D7E1E6"/>
                </a:solidFill>
                <a:latin typeface="Noto Sans CJK KR"/>
                <a:ea typeface="Noto Sans CJK KR"/>
                <a:cs typeface="Noto Sans CJK KR"/>
              </a:rPr>
              <a:t>후보 1개부터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7E1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D7E1E6"/>
                </a:solidFill>
                <a:latin typeface="Noto Sans CJK KR"/>
                <a:ea typeface="Noto Sans CJK KR"/>
                <a:cs typeface="Noto Sans CJK KR"/>
              </a:rPr>
              <a:t>재발주 판단까지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0568C-DD6C-4B51-9206-05E09D0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324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0BD0A-D8FA-49E9-9590-9B542E07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5~6주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1CC9D-8EC0-437E-9930-C0FD05C9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실제 3-SKU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D97BF-9253-4956-9750-D8EC80C1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원가오차 · 시간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누락 문서 측정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65D90-1EC5-48CA-A4CE-879B1BA0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2324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B8095-FE9B-4534-8E44-3B927954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7~8주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DE7D0-F793-4128-A8B6-0C91E78F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문제·가격 조사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FE82D-EC9D-4DFB-A839-7654097A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인터뷰 8~12명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가격 실험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5872C-2064-4E08-8012-C8BC10CD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3241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0C7B9"/>
          </a:solidFill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AA21C-0734-4828-886E-C2A3E29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9~12주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159D9-8ECD-47C3-BC74-84A17C6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0263A"/>
                </a:solidFill>
                <a:latin typeface="Noto Sans CJK KR"/>
                <a:ea typeface="Noto Sans CJK KR"/>
                <a:cs typeface="Noto Sans CJK KR"/>
              </a:rPr>
              <a:t>외부 파일럿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F391A-532C-4474-86DD-32AA5E7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3곳 반복사용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유료 또는 LOI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7215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963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5A38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AACB4-F06E-4109-857B-C9DA938C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3B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D9893-31B5-4C08-BA88-9FB5D664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D85A38"/>
                </a:solidFill>
                <a:latin typeface="Noto Sans CJK KR"/>
                <a:ea typeface="Noto Sans CJK KR"/>
                <a:cs typeface="Noto Sans CJK KR"/>
              </a:rPr>
              <a:t>V1 시작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F4AC0-D671-4EA6-95F5-8805387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7242D"/>
                </a:solidFill>
                <a:latin typeface="Noto Sans CJK KR"/>
                <a:ea typeface="Noto Sans CJK KR"/>
                <a:cs typeface="Noto Sans CJK KR"/>
              </a:rPr>
              <a:t>외부 사용자가 수입 건을 반복 완주하고 실제 결제 의사를 보일 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0BB1F-E9FC-45B7-BBBC-E6AFC53B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667078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85011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D7DB4-690C-4D29-9374-D894DADE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B4A94-F205-43D1-9B96-DEA69D8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다음 90일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78D6C-EE1B-4644-B574-7C7246BE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566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4D44E-CAC9-4212-A0B2-0FFB8B92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이번 초안의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1FA94-BFCA-41BF-BD4D-7329024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방향 피드백과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파일럿 셀러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F9916-3E48-45F8-AD31-D7D615E9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EAF31-D413-4AF5-B2A2-B7EA8EB3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문제 빈도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DC8D5-369E-450D-A4BF-CA6CF1C7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rPr>
              <a:t>예상·실제 원가 단절이 반복되는지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6CDC3-9431-47CA-A77E-9612F5B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BE28A-67CD-45A4-90CC-36CA46E7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자료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3422F-F542-4F16-9AB1-E0CA6FA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6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rPr>
              <a:t>허용된 견적·정산 샘플로 구조화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FFFEE-8F8F-451C-AD58-76D4C08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07E48-243F-4FBA-8E3A-9C7B5319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파일럿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75D87-8557-4A36-B335-4A0CAA63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48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rPr>
              <a:t>일본 소량수입 셀러 3곳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952C-9C77-4A35-96CA-435037E4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647950" cy="321945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1B3B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4C738-8B63-44A1-A2DB-7DF602FF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F0C7B9"/>
                </a:solidFill>
                <a:latin typeface="Noto Sans CJK KR"/>
                <a:ea typeface="Noto Sans CJK KR"/>
                <a:cs typeface="Noto Sans CJK KR"/>
              </a:rPr>
              <a:t>투자 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E8131-901D-45C2-9502-EC9B5CE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미확정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5257C-AEDD-4EB7-991F-4C8D7B2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627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02963-AF08-4044-B053-4608843E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rPr>
              <a:t>사업자·업력·런웨이와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rPr>
              <a:t>외부 증거를 확인한 뒤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CAD5DB"/>
                </a:solidFill>
                <a:latin typeface="Noto Sans CJK KR"/>
                <a:ea typeface="Noto Sans CJK KR"/>
                <a:cs typeface="Noto Sans CJK KR"/>
              </a:rPr>
              <a:t>자금 트랙을 재판정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5D87A-9856-490E-B5A5-FDF47795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1A6B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91A6B2"/>
                </a:solidFill>
                <a:latin typeface="Noto Sans CJK KR"/>
                <a:ea typeface="Noto Sans CJK KR"/>
                <a:cs typeface="Noto Sans CJK KR"/>
              </a:rPr>
              <a:t>Import OS V0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A3935-1250-402F-8AFD-AAC73C75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AEBCC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AEBCC5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8943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2026-09-12T12:17:53.3850000Z</dcterms:created>
  <dcterms:modified xsi:type="dcterms:W3CDTF">2026-09-12T12:17:53.3850000Z</dcterms:modified>
</coreProperties>
</file>